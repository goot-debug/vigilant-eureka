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2DB41FE-CFBE-7B69-8271-FAF1AAA0C7E0}" v="361" dt="2026-08-10T02:54:04.9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82" d="100"/>
          <a:sy n="82" d="100"/>
        </p:scale>
        <p:origin x="5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2026/8/9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49106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2026/8/9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40515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2026/8/9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083904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2026/8/9</a:t>
            </a:fld>
            <a:endParaRPr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95402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2026/8/9</a:t>
            </a:fld>
            <a:endParaRPr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9788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2026/8/9</a:t>
            </a:fld>
            <a:endParaRPr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39588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2026/8/9</a:t>
            </a:fld>
            <a:endParaRPr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428608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2026/8/9</a:t>
            </a:fld>
            <a:endParaRPr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888451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2026/8/9</a:t>
            </a:fld>
            <a:endParaRPr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89387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2026/8/9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575747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2A643-9BB0-4E02-80B2-2C0A5E5D738E}" type="datetimeFigureOut">
              <a:rPr lang="ja-JP" altLang="en-US" smtClean="0"/>
              <a:t>2026/8/9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508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2A643-9BB0-4E02-80B2-2C0A5E5D738E}" type="datetimeFigureOut">
              <a:rPr lang="ja-JP" altLang="en-US" smtClean="0"/>
              <a:t>2026/8/9</a:t>
            </a:fld>
            <a:endParaRPr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D720A-4AD5-4DCF-885F-DE5297996123}" type="slidenum">
              <a:rPr lang="ja-JP" altLang="en-US" smtClean="0"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907289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>
                <a:ea typeface="游ゴシック Light"/>
              </a:rPr>
              <a:t>生成AIとは</a:t>
            </a:r>
            <a:endParaRPr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283802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2B2AC-C402-79BE-2DA6-EA95F2573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AIとは</a:t>
            </a:r>
            <a:endParaRPr lang="ja-JP" altLang="en-US" dirty="0">
              <a:ea typeface="游ゴシック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57FE3C-9094-64E6-A983-BB32A30A1A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dirty="0"/>
          </a:p>
        </p:txBody>
      </p:sp>
    </p:spTree>
    <p:extLst>
      <p:ext uri="{BB962C8B-B14F-4D97-AF65-F5344CB8AC3E}">
        <p14:creationId xmlns:p14="http://schemas.microsoft.com/office/powerpoint/2010/main" val="3012339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73220-D847-EA6E-196A-B2BD394C5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予測の方のAIと生成する方のAI</a:t>
            </a:r>
            <a:endParaRPr kumimoji="1"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896C5E-49D7-CF54-BB80-E17E4773F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24706043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90ADA-3C4B-37A6-3E4A-1E5EACF17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AIの裏側</a:t>
            </a:r>
            <a:endParaRPr lang="ja-JP" altLang="en-US" dirty="0">
              <a:ea typeface="游ゴシック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D27EDB-3B78-BE02-9016-376C36605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511"/>
            <a:ext cx="10515600" cy="360863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514350" indent="-514350">
              <a:lnSpc>
                <a:spcPct val="80000"/>
              </a:lnSpc>
              <a:buAutoNum type="arabicPeriod"/>
            </a:pPr>
            <a:r>
              <a:rPr lang="ja-JP" altLang="en-US">
                <a:latin typeface="Aptos"/>
                <a:ea typeface="游ゴシック"/>
                <a:cs typeface="Segoe UI"/>
              </a:rPr>
              <a:t>文章を細かい単位（トークン）に分割する</a:t>
            </a:r>
            <a:endParaRPr lang="en-US" altLang="en-US">
              <a:latin typeface="Aptos"/>
              <a:ea typeface="游ゴシック"/>
              <a:cs typeface="Segoe UI"/>
            </a:endParaRPr>
          </a:p>
          <a:p>
            <a:pPr marL="514350" indent="-514350">
              <a:lnSpc>
                <a:spcPct val="80000"/>
              </a:lnSpc>
              <a:buAutoNum type="arabicPeriod"/>
            </a:pPr>
            <a:r>
              <a:rPr lang="ja-JP">
                <a:latin typeface="游ゴシック"/>
                <a:ea typeface="游ゴシック"/>
                <a:cs typeface="Segoe UI"/>
              </a:rPr>
              <a:t>分割したトークンをコンピュータが扱える数値に変換する</a:t>
            </a:r>
            <a:endParaRPr lang="ja-JP">
              <a:latin typeface="游ゴシック"/>
            </a:endParaRPr>
          </a:p>
          <a:p>
            <a:pPr marL="514350" indent="-514350">
              <a:lnSpc>
                <a:spcPct val="80000"/>
              </a:lnSpc>
              <a:buAutoNum type="arabicPeriod"/>
            </a:pPr>
            <a:r>
              <a:rPr lang="ja-JP">
                <a:latin typeface="游ゴシック"/>
                <a:ea typeface="游ゴシック"/>
                <a:cs typeface="Segoe UI"/>
              </a:rPr>
              <a:t>大量の文章データを使って、「どの言葉とどの言葉が関係しているのか」を学習する</a:t>
            </a:r>
            <a:endParaRPr lang="ja-JP"/>
          </a:p>
          <a:p>
            <a:pPr marL="514350" indent="-514350">
              <a:lnSpc>
                <a:spcPct val="80000"/>
              </a:lnSpc>
              <a:buAutoNum type="arabicPeriod"/>
            </a:pPr>
            <a:r>
              <a:rPr lang="ja-JP">
                <a:latin typeface="游ゴシック"/>
                <a:ea typeface="游ゴシック"/>
                <a:cs typeface="Segoe UI"/>
              </a:rPr>
              <a:t>文章中の言葉同士の関係性を計算する（Attention）</a:t>
            </a:r>
            <a:endParaRPr lang="ja-JP"/>
          </a:p>
          <a:p>
            <a:pPr marL="514350" indent="-514350">
              <a:lnSpc>
                <a:spcPct val="80000"/>
              </a:lnSpc>
              <a:buAutoNum type="arabicPeriod"/>
            </a:pPr>
            <a:r>
              <a:rPr lang="ja-JP">
                <a:latin typeface="游ゴシック"/>
                <a:ea typeface="游ゴシック"/>
                <a:cs typeface="Segoe UI"/>
              </a:rPr>
              <a:t>「この〇〇」の「この」は何を指すのか、「それ」は何を指すのかなど、文脈を考慮する</a:t>
            </a:r>
            <a:endParaRPr lang="ja-JP"/>
          </a:p>
          <a:p>
            <a:pPr marL="514350" indent="-514350">
              <a:lnSpc>
                <a:spcPct val="80000"/>
              </a:lnSpc>
              <a:buAutoNum type="arabicPeriod"/>
            </a:pPr>
            <a:r>
              <a:rPr lang="ja-JP">
                <a:latin typeface="游ゴシック"/>
                <a:ea typeface="游ゴシック"/>
                <a:cs typeface="Segoe UI"/>
              </a:rPr>
              <a:t>学習した知識と文脈から、次に来る単語の候補を確率で計算する</a:t>
            </a:r>
            <a:endParaRPr lang="ja-JP">
              <a:latin typeface="游ゴシック"/>
            </a:endParaRPr>
          </a:p>
          <a:p>
            <a:pPr marL="514350" indent="-514350">
              <a:lnSpc>
                <a:spcPct val="80000"/>
              </a:lnSpc>
              <a:buAutoNum type="arabicPeriod"/>
            </a:pPr>
            <a:r>
              <a:rPr lang="ja-JP">
                <a:latin typeface="游ゴシック"/>
                <a:ea typeface="游ゴシック"/>
                <a:cs typeface="Segoe UI"/>
              </a:rPr>
              <a:t>最も適切そうな単語を選び、これを繰り返して文章を生成する</a:t>
            </a:r>
            <a:endParaRPr lang="ja-JP">
              <a:latin typeface="游ゴシック"/>
            </a:endParaRPr>
          </a:p>
          <a:p>
            <a:pPr marL="514350" indent="-514350">
              <a:buAutoNum type="arabicPeriod"/>
            </a:pPr>
            <a:endParaRPr lang="ja-JP" altLang="en-US" dirty="0">
              <a:latin typeface="Aptos"/>
              <a:ea typeface="游ゴシック"/>
              <a:cs typeface="Segoe U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A6659C-66A9-16AA-1328-40BA3DF8880D}"/>
              </a:ext>
            </a:extLst>
          </p:cNvPr>
          <p:cNvSpPr txBox="1"/>
          <p:nvPr/>
        </p:nvSpPr>
        <p:spPr>
          <a:xfrm>
            <a:off x="1015999" y="4958522"/>
            <a:ext cx="9950173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err="1">
                <a:latin typeface="Aptos"/>
                <a:ea typeface="游ゴシック"/>
                <a:cs typeface="Segoe UI"/>
              </a:rPr>
              <a:t>この学習で調整される数十億～数兆個のパラメータ（重み）によって、人間の言葉の特徴がモデル内部に蓄積される</a:t>
            </a:r>
            <a:r>
              <a:rPr lang="ja-JP" altLang="en-US">
                <a:latin typeface="Aptos"/>
                <a:ea typeface="游ゴシック"/>
                <a:cs typeface="Segoe UI"/>
              </a:rPr>
              <a:t>。</a:t>
            </a:r>
            <a:endParaRPr lang="en-US">
              <a:ea typeface="游ゴシック"/>
            </a:endParaRPr>
          </a:p>
          <a:p>
            <a:r>
              <a:rPr lang="ja-JP" altLang="en-US" err="1">
                <a:latin typeface="Aptos"/>
                <a:ea typeface="游ゴシック"/>
                <a:cs typeface="Segoe UI"/>
              </a:rPr>
              <a:t>こうして作られた「大量のテキストを学習し、人間の言葉を扱える巨大なニューラルネットワーク」を</a:t>
            </a:r>
            <a:r>
              <a:rPr lang="en-US" err="1">
                <a:latin typeface="Aptos"/>
                <a:cs typeface="Segoe UI"/>
              </a:rPr>
              <a:t>LLM</a:t>
            </a:r>
            <a:r>
              <a:rPr lang="ja-JP" altLang="en-US" err="1">
                <a:latin typeface="Aptos"/>
                <a:ea typeface="游ゴシック"/>
                <a:cs typeface="Segoe UI"/>
              </a:rPr>
              <a:t>（大規模言語モデル）と呼ぶ</a:t>
            </a:r>
            <a:r>
              <a:rPr lang="en-US">
                <a:latin typeface="Aptos"/>
                <a:cs typeface="Segoe UI"/>
              </a:rPr>
              <a:t>。</a:t>
            </a:r>
            <a:endParaRPr lang="en-US"/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4060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4A639-53DF-2A8A-260C-DFDFC3D1B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AI</a:t>
            </a:r>
            <a:r>
              <a:rPr lang="ja-JP" altLang="en-US">
                <a:ea typeface="游ゴシック Light"/>
              </a:rPr>
              <a:t>による世間への影響</a:t>
            </a:r>
            <a:endParaRPr kumimoji="1"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EC5FA-B162-CA71-336E-39BBB3622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999215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ACE7F-01AF-5EE4-FDA6-5C917100E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自治体にとってのAI①</a:t>
            </a:r>
            <a:endParaRPr kumimoji="1"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4ACC7-5164-628D-F72A-C6A684A52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195180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37610-06FA-581B-6B09-3829E28AB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>
                <a:ea typeface="游ゴシック Light"/>
              </a:rPr>
              <a:t>自治体にとってのAI②</a:t>
            </a:r>
            <a:endParaRPr kumimoji="1"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3A697-B32F-5FD7-5FBD-AF29A7C5C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/>
          </a:p>
        </p:txBody>
      </p:sp>
    </p:spTree>
    <p:extLst>
      <p:ext uri="{BB962C8B-B14F-4D97-AF65-F5344CB8AC3E}">
        <p14:creationId xmlns:p14="http://schemas.microsoft.com/office/powerpoint/2010/main" val="943395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284E8-6423-9939-4D50-5D71CB6D0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>
                <a:ea typeface="游ゴシック Light"/>
              </a:rPr>
              <a:t>AIサービスについて①</a:t>
            </a:r>
            <a:r>
              <a:rPr lang="en-US" altLang="ja-JP" dirty="0">
                <a:ea typeface="游ゴシック Light"/>
              </a:rPr>
              <a:t>RAG</a:t>
            </a:r>
            <a:endParaRPr lang="ja-JP" altLang="en-US" dirty="0">
              <a:ea typeface="游ゴシック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C8A14-E54C-A066-0D0D-D2A52CE8C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ChatGPT</a:t>
            </a:r>
            <a:r>
              <a:rPr lang="ja-JP" altLang="en-US" dirty="0">
                <a:ea typeface="游ゴシック"/>
              </a:rPr>
              <a:t>や</a:t>
            </a:r>
            <a:r>
              <a:rPr lang="en-US" dirty="0"/>
              <a:t>Gemini</a:t>
            </a:r>
            <a:r>
              <a:rPr lang="ja-JP" altLang="en-US" dirty="0">
                <a:ea typeface="游ゴシック"/>
              </a:rPr>
              <a:t>などは汎用</a:t>
            </a:r>
            <a:r>
              <a:rPr lang="en-US" dirty="0"/>
              <a:t>AI</a:t>
            </a:r>
            <a:r>
              <a:rPr lang="ja-JP" altLang="en-US" dirty="0"/>
              <a:t>と呼ばれる</a:t>
            </a:r>
          </a:p>
          <a:p>
            <a:pPr marL="0" indent="0">
              <a:buNone/>
            </a:pPr>
            <a:r>
              <a:rPr lang="ja-JP" altLang="en-US" dirty="0">
                <a:ea typeface="游ゴシック"/>
              </a:rPr>
              <a:t>→事前の学習やWeb検索を使って幅広く回答できるため</a:t>
            </a:r>
          </a:p>
          <a:p>
            <a:pPr marL="0" indent="0">
              <a:buNone/>
            </a:pPr>
            <a:endParaRPr lang="ja-JP" altLang="en-US" dirty="0">
              <a:ea typeface="游ゴシック"/>
            </a:endParaRPr>
          </a:p>
          <a:p>
            <a:pPr marL="0" indent="0">
              <a:buNone/>
            </a:pPr>
            <a:r>
              <a:rPr lang="ja-JP" altLang="en-US" dirty="0">
                <a:ea typeface="游ゴシック"/>
              </a:rPr>
              <a:t>でもWebの適当な根拠だと業務に使えない…</a:t>
            </a:r>
          </a:p>
          <a:p>
            <a:pPr marL="0" indent="0">
              <a:buNone/>
            </a:pPr>
            <a:r>
              <a:rPr lang="ja-JP" altLang="en-US" dirty="0">
                <a:ea typeface="游ゴシック"/>
              </a:rPr>
              <a:t>→そこでAIに業務や分野のデータをまとめた辞書を渡して、</a:t>
            </a:r>
            <a:endParaRPr lang="en-US" altLang="ja-JP" dirty="0">
              <a:ea typeface="游ゴシック"/>
            </a:endParaRPr>
          </a:p>
          <a:p>
            <a:pPr marL="0" indent="0">
              <a:buNone/>
            </a:pPr>
            <a:r>
              <a:rPr lang="ja-JP" altLang="en-US" dirty="0">
                <a:ea typeface="游ゴシック"/>
              </a:rPr>
              <a:t>辞書の内容のみから回答するように設定した</a:t>
            </a:r>
            <a:endParaRPr lang="en-US" altLang="ja-JP" dirty="0">
              <a:ea typeface="游ゴシック"/>
            </a:endParaRPr>
          </a:p>
          <a:p>
            <a:pPr marL="0" indent="0">
              <a:buNone/>
            </a:pPr>
            <a:r>
              <a:rPr lang="ja-JP" altLang="en-US" dirty="0">
                <a:ea typeface="游ゴシック"/>
              </a:rPr>
              <a:t>RAGという機能・サービスがある</a:t>
            </a:r>
          </a:p>
        </p:txBody>
      </p:sp>
    </p:spTree>
    <p:extLst>
      <p:ext uri="{BB962C8B-B14F-4D97-AF65-F5344CB8AC3E}">
        <p14:creationId xmlns:p14="http://schemas.microsoft.com/office/powerpoint/2010/main" val="3132116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A991C-5C2B-4767-4DFC-5E2F5AE5C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</a:t>
            </a:r>
            <a:r>
              <a:rPr lang="ja-JP" altLang="en-US" dirty="0"/>
              <a:t>サービスについて</a:t>
            </a:r>
            <a:r>
              <a:rPr lang="en-US" altLang="ja-JP" dirty="0"/>
              <a:t>②</a:t>
            </a:r>
            <a:r>
              <a:rPr lang="ja-JP" altLang="en-US" dirty="0"/>
              <a:t>エージェント</a:t>
            </a:r>
            <a:endParaRPr lang="ja-JP" altLang="en-US" dirty="0">
              <a:ea typeface="游ゴシック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A6709-756B-B261-2C81-E88796F4F0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788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ChatGPT</a:t>
            </a:r>
            <a:r>
              <a:rPr lang="ja-JP" altLang="en-US">
                <a:ea typeface="游ゴシック"/>
              </a:rPr>
              <a:t>やGeminiは画像・動画作成などは可能だが、業務で使う資料の作成や、県のシステムの操作を任せるなどはできない</a:t>
            </a:r>
          </a:p>
          <a:p>
            <a:r>
              <a:rPr lang="ja-JP" altLang="en-US">
                <a:ea typeface="游ゴシック"/>
              </a:rPr>
              <a:t>→汎用AIよりもツール操作ができて便利なAIサービスとしてAIエージェントというものがある</a:t>
            </a:r>
          </a:p>
          <a:p>
            <a:r>
              <a:rPr lang="ja-JP" altLang="en-US">
                <a:ea typeface="游ゴシック"/>
              </a:rPr>
              <a:t>AIエージェントはできたばかりで定義があいまい</a:t>
            </a:r>
            <a:endParaRPr lang="ja-JP" altLang="en-US" dirty="0">
              <a:ea typeface="游ゴシック"/>
            </a:endParaRPr>
          </a:p>
          <a:p>
            <a:endParaRPr lang="ja-JP" altLang="en-US" dirty="0">
              <a:ea typeface="游ゴシック"/>
            </a:endParaRPr>
          </a:p>
        </p:txBody>
      </p:sp>
      <p:sp>
        <p:nvSpPr>
          <p:cNvPr id="113" name="Rectangle: Rounded Corners 112">
            <a:extLst>
              <a:ext uri="{FF2B5EF4-FFF2-40B4-BE49-F238E27FC236}">
                <a16:creationId xmlns:a16="http://schemas.microsoft.com/office/drawing/2014/main" id="{D81CC231-8DC3-7C7B-6E48-5FB195971BDC}"/>
              </a:ext>
            </a:extLst>
          </p:cNvPr>
          <p:cNvSpPr/>
          <p:nvPr/>
        </p:nvSpPr>
        <p:spPr>
          <a:xfrm>
            <a:off x="916608" y="4284868"/>
            <a:ext cx="3268869" cy="15019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>
                <a:ea typeface="游ゴシック"/>
              </a:rPr>
              <a:t>プロンプトを事前に設定</a:t>
            </a:r>
            <a:endParaRPr lang="en-US" altLang="ja-JP">
              <a:ea typeface="游ゴシック" panose="020B0400000000000000" pitchFamily="34" charset="-128"/>
            </a:endParaRPr>
          </a:p>
          <a:p>
            <a:pPr algn="ctr"/>
            <a:r>
              <a:rPr lang="ja-JP" altLang="en-US">
                <a:ea typeface="游ゴシック"/>
              </a:rPr>
              <a:t>しておりツール操作は</a:t>
            </a:r>
            <a:endParaRPr lang="en-US" altLang="ja-JP">
              <a:ea typeface="游ゴシック"/>
            </a:endParaRPr>
          </a:p>
          <a:p>
            <a:pPr algn="ctr"/>
            <a:r>
              <a:rPr lang="ja-JP" altLang="en-US">
                <a:ea typeface="游ゴシック"/>
              </a:rPr>
              <a:t>できないもの</a:t>
            </a:r>
            <a:endParaRPr lang="en-US" altLang="ja-JP">
              <a:ea typeface="游ゴシック"/>
            </a:endParaRPr>
          </a:p>
        </p:txBody>
      </p: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1840D1E6-107D-3231-80F9-472CBA530EE8}"/>
              </a:ext>
            </a:extLst>
          </p:cNvPr>
          <p:cNvSpPr/>
          <p:nvPr/>
        </p:nvSpPr>
        <p:spPr>
          <a:xfrm>
            <a:off x="4461564" y="4284868"/>
            <a:ext cx="3268869" cy="15019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>
                <a:ea typeface="游ゴシック"/>
              </a:rPr>
              <a:t>プロンプトや使えるツールを事前に設定しているが汎用的に何でもはできないもの</a:t>
            </a:r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A3D9D321-4DEB-C759-6CFF-530454CBCF4B}"/>
              </a:ext>
            </a:extLst>
          </p:cNvPr>
          <p:cNvSpPr/>
          <p:nvPr/>
        </p:nvSpPr>
        <p:spPr>
          <a:xfrm>
            <a:off x="7984434" y="4284868"/>
            <a:ext cx="3268869" cy="150191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ja-JP" altLang="en-US">
                <a:ea typeface="游ゴシック"/>
              </a:rPr>
              <a:t>ゴールだけ伝えたら何でも操作できる</a:t>
            </a:r>
            <a:r>
              <a:rPr lang="ja-JP" altLang="en-US" dirty="0">
                <a:ea typeface="游ゴシック"/>
              </a:rPr>
              <a:t>もの</a:t>
            </a:r>
            <a:endParaRPr lang="ja-JP" dirty="0">
              <a:ea typeface="游ゴシック"/>
            </a:endParaRPr>
          </a:p>
        </p:txBody>
      </p:sp>
      <p:sp>
        <p:nvSpPr>
          <p:cNvPr id="116" name="Arrow: Right 115">
            <a:extLst>
              <a:ext uri="{FF2B5EF4-FFF2-40B4-BE49-F238E27FC236}">
                <a16:creationId xmlns:a16="http://schemas.microsoft.com/office/drawing/2014/main" id="{0F85EBEF-E0A6-9D86-7D61-A6FE11F56C34}"/>
              </a:ext>
            </a:extLst>
          </p:cNvPr>
          <p:cNvSpPr/>
          <p:nvPr/>
        </p:nvSpPr>
        <p:spPr>
          <a:xfrm>
            <a:off x="1546086" y="5985565"/>
            <a:ext cx="8779565" cy="25399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5A04F80-2C49-4B06-1FB4-F7FF185B263D}"/>
              </a:ext>
            </a:extLst>
          </p:cNvPr>
          <p:cNvSpPr txBox="1"/>
          <p:nvPr/>
        </p:nvSpPr>
        <p:spPr>
          <a:xfrm>
            <a:off x="4042902" y="6308209"/>
            <a:ext cx="41061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dirty="0"/>
              <a:t>できることが多いほどリスクも高い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4223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8A6E6EA-E423-11BA-D212-9E86F178F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AI</a:t>
            </a:r>
            <a:r>
              <a:rPr kumimoji="1" lang="ja-JP" altLang="en-US" dirty="0"/>
              <a:t>の課題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A56267-127D-A04A-7A8C-49D8026011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セキュリティリスク</a:t>
            </a:r>
            <a:endParaRPr kumimoji="1" lang="en-US" altLang="ja-JP" dirty="0"/>
          </a:p>
          <a:p>
            <a:r>
              <a:rPr kumimoji="1" lang="ja-JP" altLang="en-US" dirty="0"/>
              <a:t>コスト面</a:t>
            </a:r>
            <a:endParaRPr kumimoji="1" lang="en-US" altLang="ja-JP" dirty="0"/>
          </a:p>
          <a:p>
            <a:r>
              <a:rPr kumimoji="1" lang="ja-JP" altLang="en-US" dirty="0"/>
              <a:t>使える人と苦手な人の間の格差</a:t>
            </a:r>
          </a:p>
        </p:txBody>
      </p:sp>
    </p:spTree>
    <p:extLst>
      <p:ext uri="{BB962C8B-B14F-4D97-AF65-F5344CB8AC3E}">
        <p14:creationId xmlns:p14="http://schemas.microsoft.com/office/powerpoint/2010/main" val="222734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DEC247-531F-2176-23FA-684EB1B83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まとめ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045909C-3672-6042-3D45-E357131C4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生成</a:t>
            </a:r>
            <a:r>
              <a:rPr kumimoji="1" lang="en-US" altLang="ja-JP" dirty="0"/>
              <a:t>AI</a:t>
            </a:r>
            <a:r>
              <a:rPr kumimoji="1" lang="ja-JP" altLang="en-US" dirty="0"/>
              <a:t>とは、事前に超大量のデータを学習させているので次に続く単語やイメージを確率から生成することができる</a:t>
            </a:r>
            <a:endParaRPr kumimoji="1" lang="en-US" altLang="ja-JP" dirty="0"/>
          </a:p>
          <a:p>
            <a:r>
              <a:rPr kumimoji="1" lang="ja-JP" altLang="en-US" dirty="0"/>
              <a:t>自治体は社会課題の解決や自治体の業務改善のために生成</a:t>
            </a:r>
            <a:r>
              <a:rPr kumimoji="1" lang="en-US" altLang="ja-JP" dirty="0"/>
              <a:t>AI</a:t>
            </a:r>
            <a:r>
              <a:rPr kumimoji="1" lang="ja-JP" altLang="en-US" dirty="0"/>
              <a:t>をどんどん使っており、今後も拡大していく</a:t>
            </a:r>
            <a:endParaRPr kumimoji="1" lang="en-US" altLang="ja-JP" dirty="0"/>
          </a:p>
          <a:p>
            <a:r>
              <a:rPr kumimoji="1" lang="ja-JP" altLang="en-US" dirty="0"/>
              <a:t>大規模言語モデルを脳みそとして、追加機能を含めた様々な生成</a:t>
            </a:r>
            <a:r>
              <a:rPr kumimoji="1" lang="en-US" altLang="ja-JP" dirty="0"/>
              <a:t>AI</a:t>
            </a:r>
            <a:r>
              <a:rPr kumimoji="1" lang="ja-JP" altLang="en-US" dirty="0"/>
              <a:t>システムがあり、福井県も導入している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502481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504</Words>
  <Application>Microsoft Office PowerPoint</Application>
  <PresentationFormat>Widescreen</PresentationFormat>
  <Paragraphs>42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テーマ</vt:lpstr>
      <vt:lpstr>生成AIとは</vt:lpstr>
      <vt:lpstr>AIとは</vt:lpstr>
      <vt:lpstr>予測の方のAIと生成する方のAI</vt:lpstr>
      <vt:lpstr>AIの裏側</vt:lpstr>
      <vt:lpstr>AIによる世間への影響</vt:lpstr>
      <vt:lpstr>自治体にとってのAI①</vt:lpstr>
      <vt:lpstr>自治体にとってのAI②</vt:lpstr>
      <vt:lpstr>AIサービスについて①RAG</vt:lpstr>
      <vt:lpstr>AIサービスについて②エージェント</vt:lpstr>
      <vt:lpstr>AIの課題</vt:lpstr>
      <vt:lpstr>まとめ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八木 香保里</cp:lastModifiedBy>
  <cp:revision>162</cp:revision>
  <dcterms:created xsi:type="dcterms:W3CDTF">2026-08-10T02:12:55Z</dcterms:created>
  <dcterms:modified xsi:type="dcterms:W3CDTF">2026-08-10T04:18:42Z</dcterms:modified>
</cp:coreProperties>
</file>